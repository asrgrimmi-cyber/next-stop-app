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Black sign, five-line stripe on top, amber dot-matrix eyebrow, Archivo headline with one red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as a departures board. Replace rows with your agenda items. Times, codes and statuses always in the dot font (Doto in the app; Consolas here).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Full signal red: use at most once or twice in a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content slide: dotted platform floor colour, thick ink rule + caps kicker, condensed headline, line-colour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Stats row: 3–4 big dot-matrix numbers under thick ink rules, like the app's stats strip. Red only for the one number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Hero idea as a ticket. Ticket palettes: sand F2E2C0/C9442A, ice D6E3E7/1C4766, mustard F0C54B/2A251C, brick C94730/FFF1DC, sage DCE3CC/24533B.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slide: big two-line line, one red ticket button, green BOARDED rubber stamp.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109728"/>
          </a:xfrm>
          <a:prstGeom prst="rect">
            <a:avLst/>
          </a:prstGeom>
          <a:solidFill>
            <a:srgbClr val="3D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109728"/>
          </a:xfrm>
          <a:prstGeom prst="rect">
            <a:avLst/>
          </a:prstGeom>
          <a:solidFill>
            <a:srgbClr val="2F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109728"/>
          </a:xfrm>
          <a:prstGeom prst="rect">
            <a:avLst/>
          </a:prstGeom>
          <a:solidFill>
            <a:srgbClr val="84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109728"/>
          </a:xfrm>
          <a:prstGeom prst="rect">
            <a:avLst/>
          </a:prstGeom>
          <a:solidFill>
            <a:srgbClr val="DA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D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6C64B"/>
                </a:solidFill>
                <a:latin typeface="Consolas"/>
              </a:rPr>
              <a:t>PLATFORM 1  · 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>
                <a:solidFill>
                  <a:srgbClr val="F3F0E8"/>
                </a:solidFill>
                <a:latin typeface="Archivo"/>
              </a:rPr>
              <a:t>Stop planning.</a:t>
            </a:r>
          </a:p>
          <a:p>
            <a:pPr algn="l">
              <a:lnSpc>
                <a:spcPct val="90000"/>
              </a:lnSpc>
            </a:pPr>
            <a:r>
              <a:rPr sz="7200" b="1">
                <a:solidFill>
                  <a:srgbClr val="E03A2D"/>
                </a:solidFill>
                <a:latin typeface="Archivo"/>
              </a:rPr>
              <a:t>Start boarding.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A8A49A"/>
                </a:solidFill>
                <a:latin typeface="Archivo"/>
              </a:rPr>
              <a:t>Next Stop  ·  subtitle / presenter / date</a:t>
            </a:r>
          </a:p>
        </p:txBody>
      </p:sp>
      <p:sp>
        <p:nvSpPr>
          <p:cNvPr id="10" name="Oval 9"/>
          <p:cNvSpPr/>
          <p:nvPr/>
        </p:nvSpPr>
        <p:spPr>
          <a:xfrm>
            <a:off x="10378440" y="685800"/>
            <a:ext cx="1005840" cy="1005840"/>
          </a:xfrm>
          <a:prstGeom prst="ellipse">
            <a:avLst/>
          </a:prstGeom>
          <a:solidFill>
            <a:srgbClr val="E03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78440" y="68580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chivo"/>
              </a:rPr>
              <a:t>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109728"/>
          </a:xfrm>
          <a:prstGeom prst="rect">
            <a:avLst/>
          </a:prstGeom>
          <a:solidFill>
            <a:srgbClr val="3D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109728"/>
          </a:xfrm>
          <a:prstGeom prst="rect">
            <a:avLst/>
          </a:prstGeom>
          <a:solidFill>
            <a:srgbClr val="2F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109728"/>
          </a:xfrm>
          <a:prstGeom prst="rect">
            <a:avLst/>
          </a:prstGeom>
          <a:solidFill>
            <a:srgbClr val="84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109728"/>
          </a:xfrm>
          <a:prstGeom prst="rect">
            <a:avLst/>
          </a:prstGeom>
          <a:solidFill>
            <a:srgbClr val="DA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D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292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6C64B"/>
                </a:solidFill>
                <a:latin typeface="Consolas"/>
              </a:rPr>
              <a:t>DEPARTURES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C8448"/>
                </a:solidFill>
                <a:latin typeface="Archivo"/>
              </a:rP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600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C8448"/>
                </a:solidFill>
                <a:latin typeface="Archivo"/>
              </a:rPr>
              <a:t>FLIGHT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C8448"/>
                </a:solidFill>
                <a:latin typeface="Archivo"/>
              </a:rPr>
              <a:t>DESTINATION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600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C8448"/>
                </a:solidFill>
                <a:latin typeface="Archivo"/>
              </a:rPr>
              <a:t>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10881360" cy="868680"/>
          </a:xfrm>
          <a:prstGeom prst="roundRect">
            <a:avLst>
              <a:gd name="adj" fmla="val 1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57400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09:30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057400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WK 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57400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STANDUP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057400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4CCB8C"/>
                </a:solidFill>
                <a:latin typeface="Consolas"/>
              </a:rPr>
              <a:t>BOARDED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81528"/>
            <a:ext cx="10881360" cy="868680"/>
          </a:xfrm>
          <a:prstGeom prst="roundRect">
            <a:avLst>
              <a:gd name="adj" fmla="val 1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81528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14:00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081528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WK 102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81528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FIX NTN 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081528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ON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05656"/>
            <a:ext cx="10881360" cy="868680"/>
          </a:xfrm>
          <a:prstGeom prst="roundRect">
            <a:avLst>
              <a:gd name="adj" fmla="val 1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05656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18:00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105656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WK 103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105656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SHIP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105656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E60"/>
                </a:solidFill>
                <a:latin typeface="Consolas"/>
              </a:rPr>
              <a:t>LAST 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129784"/>
            <a:ext cx="10881360" cy="868680"/>
          </a:xfrm>
          <a:prstGeom prst="roundRect">
            <a:avLst>
              <a:gd name="adj" fmla="val 1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129784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20:00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5129784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GY 104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129784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LEG 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5129784"/>
            <a:ext cx="4754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C64B"/>
                </a:solidFill>
                <a:latin typeface="Consolas"/>
              </a:rPr>
              <a:t>ON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3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FFD9D4"/>
                </a:solidFill>
                <a:latin typeface="Archivo"/>
              </a:rPr>
              <a:t>NOW BOARDING</a:t>
            </a:r>
          </a:p>
          <a:p>
            <a:pPr algn="l">
              <a:lnSpc>
                <a:spcPct val="95000"/>
              </a:lnSpc>
            </a:pPr>
            <a:r>
              <a:rPr sz="6000" b="1">
                <a:solidFill>
                  <a:srgbClr val="FFFFFF"/>
                </a:solidFill>
                <a:latin typeface="Archivo"/>
              </a:rPr>
              <a:t>Section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75488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nsolas"/>
              </a:rPr>
              <a:t>GATE 02  ·  one-line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0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109728"/>
          </a:xfrm>
          <a:prstGeom prst="rect">
            <a:avLst/>
          </a:prstGeom>
          <a:solidFill>
            <a:srgbClr val="3D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109728"/>
          </a:xfrm>
          <a:prstGeom prst="rect">
            <a:avLst/>
          </a:prstGeom>
          <a:solidFill>
            <a:srgbClr val="2F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109728"/>
          </a:xfrm>
          <a:prstGeom prst="rect">
            <a:avLst/>
          </a:prstGeom>
          <a:solidFill>
            <a:srgbClr val="84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109728"/>
          </a:xfrm>
          <a:prstGeom prst="rect">
            <a:avLst/>
          </a:prstGeom>
          <a:solidFill>
            <a:srgbClr val="DA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D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822960"/>
            <a:ext cx="1463040" cy="64008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D5950"/>
                </a:solidFill>
                <a:latin typeface="Archivo"/>
              </a:rPr>
              <a:t>KICKER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7161A"/>
                </a:solidFill>
                <a:latin typeface="Archivo"/>
              </a:rPr>
              <a:t>Slide headline in Archivo, short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52928"/>
            <a:ext cx="292608" cy="292608"/>
          </a:xfrm>
          <a:prstGeom prst="ellipse">
            <a:avLst/>
          </a:prstGeom>
          <a:solidFill>
            <a:srgbClr val="2F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743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7161A"/>
                </a:solidFill>
                <a:latin typeface="Archivo"/>
              </a:rPr>
              <a:t>One idea per bullet, written plainly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13048"/>
            <a:ext cx="292608" cy="292608"/>
          </a:xfrm>
          <a:prstGeom prst="ellipse">
            <a:avLst/>
          </a:prstGeom>
          <a:solidFill>
            <a:srgbClr val="84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7033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7161A"/>
                </a:solidFill>
                <a:latin typeface="Archivo"/>
              </a:rPr>
              <a:t>Times and numbers go in the dot font: 18:05, 14 tickets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292608" cy="292608"/>
          </a:xfrm>
          <a:prstGeom prst="ellipse">
            <a:avLst/>
          </a:prstGeom>
          <a:solidFill>
            <a:srgbClr val="DA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663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7161A"/>
                </a:solidFill>
                <a:latin typeface="Archivo"/>
              </a:rPr>
              <a:t>Keep one red call to action per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0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109728"/>
          </a:xfrm>
          <a:prstGeom prst="rect">
            <a:avLst/>
          </a:prstGeom>
          <a:solidFill>
            <a:srgbClr val="3D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109728"/>
          </a:xfrm>
          <a:prstGeom prst="rect">
            <a:avLst/>
          </a:prstGeom>
          <a:solidFill>
            <a:srgbClr val="2F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109728"/>
          </a:xfrm>
          <a:prstGeom prst="rect">
            <a:avLst/>
          </a:prstGeom>
          <a:solidFill>
            <a:srgbClr val="84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109728"/>
          </a:xfrm>
          <a:prstGeom prst="rect">
            <a:avLst/>
          </a:prstGeom>
          <a:solidFill>
            <a:srgbClr val="DA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D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D5950"/>
                </a:solidFill>
                <a:latin typeface="Archivo"/>
              </a:rPr>
              <a:t>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7161A"/>
                </a:solidFill>
                <a:latin typeface="Archivo"/>
              </a:rPr>
              <a:t>The numbers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2514600" cy="73152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D5950"/>
                </a:solidFill>
                <a:latin typeface="Archivo"/>
              </a:rPr>
              <a:t>TICKETS TORN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17161A"/>
                </a:solidFill>
                <a:latin typeface="Consolas"/>
              </a:rPr>
              <a:t>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79" y="2743200"/>
            <a:ext cx="2514600" cy="73152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9260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D5950"/>
                </a:solidFill>
                <a:latin typeface="Archivo"/>
              </a:rPr>
              <a:t>FLIGHTS DEPARTED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333756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17161A"/>
                </a:solidFill>
                <a:latin typeface="Consolas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743200"/>
            <a:ext cx="2514600" cy="73152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D5950"/>
                </a:solidFill>
                <a:latin typeface="Archivo"/>
              </a:rPr>
              <a:t>DAY STREAK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E03A2D"/>
                </a:solidFill>
                <a:latin typeface="Consolas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19" y="2743200"/>
            <a:ext cx="2514600" cy="73152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29260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D5950"/>
                </a:solidFill>
                <a:latin typeface="Archivo"/>
              </a:rPr>
              <a:t>MILES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333756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17161A"/>
                </a:solidFill>
                <a:latin typeface="Consolas"/>
              </a:rPr>
              <a:t>2,150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0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63040" y="1463040"/>
            <a:ext cx="7589520" cy="3931920"/>
          </a:xfrm>
          <a:prstGeom prst="roundRect">
            <a:avLst>
              <a:gd name="adj" fmla="val 6000"/>
            </a:avLst>
          </a:prstGeom>
          <a:solidFill>
            <a:srgbClr val="D6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1463040"/>
            <a:ext cx="1645920" cy="3931920"/>
          </a:xfrm>
          <a:prstGeom prst="roundRect">
            <a:avLst>
              <a:gd name="adj" fmla="val 10000"/>
            </a:avLst>
          </a:prstGeom>
          <a:solidFill>
            <a:srgbClr val="1C4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34272" y="1645920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34272" y="1769364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34272" y="1892808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34272" y="2016252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34272" y="2139696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34272" y="2263140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34272" y="2386584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34272" y="2510028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34272" y="2633472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34272" y="2756916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34272" y="2880360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34272" y="3003804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34272" y="3127248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34272" y="3250692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34272" y="3374136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34272" y="3497580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34272" y="3621024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34272" y="3744468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34272" y="3867912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34272" y="3991356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34272" y="4114800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34272" y="4238244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34272" y="4361688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34272" y="4485132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34272" y="4608576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34272" y="4732020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34272" y="4855464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034272" y="4978908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34272" y="5102352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34272" y="5225796"/>
            <a:ext cx="45720" cy="45720"/>
          </a:xfrm>
          <a:prstGeom prst="ellipse">
            <a:avLst/>
          </a:prstGeom>
          <a:solidFill>
            <a:srgbClr val="E2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18288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1C4766"/>
                </a:solidFill>
                <a:latin typeface="Alfa Slab One"/>
              </a:rPr>
              <a:t>ONE TRIP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874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1C4766"/>
                </a:solidFill>
                <a:latin typeface="Consolas"/>
              </a:rPr>
              <a:t>STOP 02/05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0240" y="2377440"/>
            <a:ext cx="6675120" cy="45720"/>
          </a:xfrm>
          <a:prstGeom prst="rect">
            <a:avLst/>
          </a:prstGeom>
          <a:solidFill>
            <a:srgbClr val="1C4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20240" y="269748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4766"/>
                </a:solidFill>
                <a:latin typeface="Archivo"/>
              </a:rPr>
              <a:t>ONE BIG IDEA ON A TICKET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0624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C4766"/>
                </a:solidFill>
                <a:latin typeface="Archivo"/>
              </a:rPr>
              <a:t>One line of detail. Valid until 16 OCT 18:00.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9052560" y="1463040"/>
            <a:ext cx="164592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E2ECEF"/>
                </a:solidFill>
                <a:latin typeface="Archivo"/>
              </a:rPr>
              <a:t>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2438340" cy="109728"/>
          </a:xfrm>
          <a:prstGeom prst="rect">
            <a:avLst/>
          </a:prstGeom>
          <a:solidFill>
            <a:srgbClr val="3D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6748272"/>
            <a:ext cx="2438340" cy="109728"/>
          </a:xfrm>
          <a:prstGeom prst="rect">
            <a:avLst/>
          </a:prstGeom>
          <a:solidFill>
            <a:srgbClr val="2F6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6748272"/>
            <a:ext cx="2438340" cy="109728"/>
          </a:xfrm>
          <a:prstGeom prst="rect">
            <a:avLst/>
          </a:prstGeom>
          <a:solidFill>
            <a:srgbClr val="845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6748272"/>
            <a:ext cx="2438340" cy="109728"/>
          </a:xfrm>
          <a:prstGeom prst="rect">
            <a:avLst/>
          </a:prstGeom>
          <a:solidFill>
            <a:srgbClr val="DA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6748272"/>
            <a:ext cx="2438339" cy="109728"/>
          </a:xfrm>
          <a:prstGeom prst="rect">
            <a:avLst/>
          </a:prstGeom>
          <a:solidFill>
            <a:srgbClr val="D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8229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400" b="1">
                <a:solidFill>
                  <a:srgbClr val="F3F0E8"/>
                </a:solidFill>
                <a:latin typeface="Archivo"/>
              </a:rPr>
              <a:t>Next stop:</a:t>
            </a:r>
          </a:p>
          <a:p>
            <a:pPr algn="l">
              <a:lnSpc>
                <a:spcPct val="95000"/>
              </a:lnSpc>
            </a:pPr>
            <a:r>
              <a:rPr sz="6400" b="1">
                <a:solidFill>
                  <a:srgbClr val="F6C64B"/>
                </a:solidFill>
                <a:latin typeface="Archivo"/>
              </a:rPr>
              <a:t>your first flight.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3840480" cy="868680"/>
          </a:xfrm>
          <a:prstGeom prst="roundRect">
            <a:avLst>
              <a:gd name="adj" fmla="val 15000"/>
            </a:avLst>
          </a:prstGeom>
          <a:solidFill>
            <a:srgbClr val="E03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chivo"/>
              </a:rPr>
              <a:t>+  BOOK A FLIGHT</a:t>
            </a:r>
          </a:p>
        </p:txBody>
      </p:sp>
      <p:sp>
        <p:nvSpPr>
          <p:cNvPr id="10" name="Rounded Rectangle 9"/>
          <p:cNvSpPr/>
          <p:nvPr/>
        </p:nvSpPr>
        <p:spPr>
          <a:xfrm rot="21060000">
            <a:off x="8412480" y="1828800"/>
            <a:ext cx="2926080" cy="1463040"/>
          </a:xfrm>
          <a:prstGeom prst="roundRect">
            <a:avLst/>
          </a:prstGeom>
          <a:solidFill>
            <a:srgbClr val="111113"/>
          </a:solidFill>
          <a:ln w="63500">
            <a:solidFill>
              <a:srgbClr val="4CC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21060000">
            <a:off x="8412480" y="182880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0">
                <a:solidFill>
                  <a:srgbClr val="4CCB8C"/>
                </a:solidFill>
                <a:latin typeface="Alfa Slab One"/>
              </a:rPr>
              <a:t>BOARDED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